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43E2C"/>
          </a:solidFill>
          <a:ln w="19050">
            <a:solidFill>
              <a:srgbClr val="235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DE2B5"/>
                </a:solidFill>
              </a:defRPr>
            </a:pPr>
            <a:r>
              <a:t>TEAM GREEN TECH  ·  100% PRODUCTION MILESTONE</a:t>
            </a:r>
          </a:p>
          <a:p>
            <a:pPr>
              <a:spcBef>
                <a:spcPts val="1400"/>
              </a:spcBef>
              <a:defRPr sz="3800" b="1">
                <a:solidFill>
                  <a:srgbClr val="FFFFFF"/>
                </a:solidFill>
              </a:defRPr>
            </a:pPr>
            <a:r>
              <a:t>Explainable Tomato Leaf Disease</a:t>
            </a:r>
            <a:br/>
            <a:r>
              <a:t>Detection Using AI/ML</a:t>
            </a:r>
          </a:p>
          <a:p>
            <a:pPr>
              <a:spcBef>
                <a:spcPts val="1800"/>
              </a:spcBef>
              <a:defRPr sz="1600">
                <a:solidFill>
                  <a:srgbClr val="D2EBDC"/>
                </a:solidFill>
              </a:defRPr>
            </a:pPr>
            <a:r>
              <a:t>High-Precision Foliar Pathology Diagnostics with EfficientNet-B0</a:t>
            </a:r>
            <a:br/>
            <a:r>
              <a:t>Combined with Grad-CAM Visual Attention Heatmaps for Transparent Farm Decisions</a:t>
            </a:r>
          </a:p>
          <a:p>
            <a:pPr>
              <a:spcBef>
                <a:spcPts val="3600"/>
              </a:spcBef>
              <a:defRPr sz="1200" b="1">
                <a:solidFill>
                  <a:srgbClr val="9DE2B5"/>
                </a:solidFill>
              </a:defRPr>
            </a:pPr>
            <a:r>
              <a:t>🌱 Author / Presenter: Team Green tech      |      📅 October 2026      |      🍅 Solanaceae Pathology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CONTEXT &amp; JUSTIFICATION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The Critical Need for Explainable Agronomic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🚨 $10B+ Annual Crop Loss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Tomatoes are among the most consumed global vegetables, yet are highly vulnerable to over 10 distinct foliar pathogens.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Early fungal blights, bacterial cankers, and viral vectors cause catastrophic 30%–70% harvest destruction if untreated.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Smallholder farmers often identify outbreaks only after leaf drop and fruit lesions have spread irreversibly across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🔬 Visual Misdiagnosis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Early Blight and Late Blight look almost identical in early sporulation phases, yet require opposite chemical classes.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Bacterial Spot mimics Septoria Leaf Spot, leading growers to misapply ineffective fungicides against bacterial pathogens.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Misdiagnosis wastes input capital, accelerates fungicide resistance, and causes heavy chemical groundwater leaching.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C"/>
                </a:solidFill>
              </a:defRPr>
            </a:pPr>
            <a:r>
              <a:t>🧠 The 'Black-Box' Barrier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Conventional deep CNNs produce confidence scores without indicating WHERE on the leaf symptoms were detected.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Growers and extension officers reject opaque AI recommendations due to lack of verifiable diagnostic transparency.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• Solution: Pair state-of-the-art classifier accuracy with Grad-CAM visual attention overlays to clearly explain every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SYSTEM ENGINEERING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End-to-End Diagnostic &amp; Explainability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731520"/>
          </a:xfrm>
          <a:prstGeom prst="roundRect">
            <a:avLst/>
          </a:prstGeom>
          <a:solidFill>
            <a:srgbClr val="1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 · Data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ImageFolder discovery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Stratified 80/20 train/val split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Bilinear resize (224×224)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Data augmentation: flips, rotations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ImageNet standard normalization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8144" y="1645920"/>
            <a:ext cx="2468880" cy="731520"/>
          </a:xfrm>
          <a:prstGeom prst="roundRect">
            <a:avLst/>
          </a:prstGeom>
          <a:solidFill>
            <a:srgbClr val="10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 · 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5146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EfficientNet-B0 backbone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Compound scaling MBConv blocks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AdamW optimizer (lr=1e-3)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Cross-Entropy multi-class loss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Best checkpoint save: models/best.pt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45920"/>
            <a:ext cx="24688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· 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5146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Dual-path inference engine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Grad-CAM gradient backpropagation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Weights alpha_k from conv features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Colorized heatmaps (Jet/Turbo/Viridis)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Superimposed alpha blends &amp; focus masks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1645920"/>
            <a:ext cx="2468880" cy="7315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 · Clinical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5146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Streamlit interactive GUI (4 tabs)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CLI tool with JSON export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10-class agronomic guide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Immediate IPM action prescriptions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✓ Docker containerization &amp; 22 unit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PATHOLOGY TAXONOMY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10 Monitored Tomato Foliar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324"/>
                </a:solidFill>
              </a:defRPr>
            </a:pPr>
            <a:r>
              <a:t>Solanaceae Foliar Disease Coverage Matrix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Bacterial Spot [Bacterium] (Xanthomonas vesicatoria): Small dark water-soaked spots with yellow chlorotic halos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Early Blight [Fungus] (Alternaria solani): Concentric dark brown rings ('target board' pattern) on lower foliage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Late Blight [Oomycete] (Phytophthora infestans): Large irregular water-soaked greasy patches, rapid vine collapse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Leaf Mold [Fungus] (Passalora fulva): Pale chlorotic spots with olive-green velvety mold on undersides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Septoria Leaf Spot [Fungus] (Septoria lycopersici): Numerous small circular spots with grayish-white centers &amp; pycnidia dots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Spider Mites [Pest / Acari] (Tetranychus urticae): Fine chlorotic stippling, bronzed parchment leaves, silken webbing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Target Spot [Fungus] (Corynespora cassiicola): Expanding pinpoint lesions with zoning, cracking lesion centers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Yellow Leaf Curl [Virus (Whitefly)] (TYLCV (Begomovirus)): Distinct upward leaf rolling ('spooning'), severe interveinal yellowing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Tomato Mosaic [Virus (Contact)] (ToMV (Tobamovirus)): Mottled dark/light green mosaic patches, blistering, 'shoestring' leaves</a:t>
            </a:r>
          </a:p>
          <a:p>
            <a:pPr>
              <a:spcBef>
                <a:spcPts val="400"/>
              </a:spcBef>
              <a:defRPr sz="1150">
                <a:solidFill>
                  <a:srgbClr val="123726"/>
                </a:solidFill>
              </a:defRPr>
            </a:pPr>
            <a:r>
              <a:t>• Healthy Foliage [Optimal] (Solanum lycopersicum): Vibrant green lamina, uniform venation, unblemished serrated margins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MODEL ENGINEERING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Convolutional Transfer Learning with EfficientNet-B0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C"/>
                </a:solidFill>
              </a:defRPr>
            </a:pPr>
            <a:r>
              <a:t>EfficientNet-B0 Architecture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Compound Scaling: Jointly scales depth, width, and resolution using a fixed compound coefficient φ.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MBConv Blocks: Mobile inverted bottleneck convolutions with depthwise separable convolutions for maximum FLOP efficiency.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Squeeze-and-Excitation (SE): Channel-attention mechanisms dynamically re-weight informative spatial feature maps.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Classification Head: Adaptive 1280-dim feature projection replaced with Linear(1280, 10 classes) with cross-entropy loss.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Pretrained Transfer Learning: Leverages ImageNet priors, dramatically reducing required training epochs on agricultural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324"/>
                </a:solidFill>
              </a:defRPr>
            </a:pPr>
            <a:r>
              <a:t>Training &amp; Optimization Setup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Optimization Algorithm: AdamW with decoupled weight decay (lr = 1e-3, weight_decay = 1e-4).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Loss Function: Categorical Cross-Entropy Loss over 10 mutually exclusive classes.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Stratified Data Split: 80% training / 20% validation maintaining identical class frequencies.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Data Augmentation: Random horizontal flipping and random 10° rotations simulate in-field drone and handheld camera tilts.</a:t>
            </a:r>
          </a:p>
          <a:p>
            <a:pPr>
              <a:spcBef>
                <a:spcPts val="800"/>
              </a:spcBef>
              <a:defRPr sz="1250">
                <a:solidFill>
                  <a:srgbClr val="123726"/>
                </a:solidFill>
              </a:defRPr>
            </a:pPr>
            <a:r>
              <a:t>• Hardware Scalability: Multi-device auto-detection supporting Apple MPS, NVIDIA CUDA, and CPU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EXPLAINABLE AI METHODOLOGY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Grad-CAM: Gradient-Weighted Class Activation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324"/>
                </a:solidFill>
              </a:defRPr>
            </a:pPr>
            <a:r>
              <a:t>Mathematical Principle of Visual Attention Extraction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📌 Step 1 · Feature Map Capture: A forward pass processes image X to extract feature activations A^k from the final convolutional layer (Conv2dNormActivation in EfficientNet-B0).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📌 Step 2 · Class Score Backpropagation: Gradients of the predicted class score Y^c are backpropagated with respect to feature maps A^k:  ∂Y^c / ∂A^k.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📌 Step 3 · Global Average Pooling of Gradients: Importance weights alpha_k^c are computed by global average pooling over spatial dimensions:  alpha_k^c = (1/Z) ∑_i ∑_j (∂Y^c / ∂A_{i,j}^k).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📌 Step 4 · Rectified Linear Combination: A weighted linear combination of forward activation maps is passed through ReLU to filter out negatively contributing features:  L_{Grad-CAM}^c = ReLU(∑_k alpha_k^c A^k).</a:t>
            </a:r>
          </a:p>
          <a:p>
            <a:pPr>
              <a:spcBef>
                <a:spcPts val="1000"/>
              </a:spcBef>
              <a:defRPr sz="1300">
                <a:solidFill>
                  <a:srgbClr val="123726"/>
                </a:solidFill>
              </a:defRPr>
            </a:pPr>
            <a:r>
              <a:t>📌 Step 5 · Spatial Upscaling &amp; Colormapping: The coarse 7×7 activation map is bilinearly upsampled to the original 224×224 resolution and mapped via Jet / Turbo colormaps for intuitive human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EXPLAINABILITY DEMONSTRATION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4-View Visual Inspection Grid for Disease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3324"/>
                </a:solidFill>
              </a:defRPr>
            </a:pPr>
            <a:r>
              <a:t>1. Original Leaf Image</a:t>
            </a:r>
          </a:p>
        </p:txBody>
      </p:sp>
      <p:pic>
        <p:nvPicPr>
          <p:cNvPr id="7" name="Picture 6" descr="early_blight_le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210312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83864" y="164592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1783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3324"/>
                </a:solidFill>
              </a:defRPr>
            </a:pPr>
            <a:r>
              <a:t>2. Grad-CAM Heatmap</a:t>
            </a:r>
          </a:p>
        </p:txBody>
      </p:sp>
      <p:pic>
        <p:nvPicPr>
          <p:cNvPr id="10" name="Picture 9" descr="early_blight_leaf_gradcam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286000"/>
            <a:ext cx="210312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164592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783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3324"/>
                </a:solidFill>
              </a:defRPr>
            </a:pPr>
            <a:r>
              <a:t>3. Superimposed Blend</a:t>
            </a:r>
          </a:p>
        </p:txBody>
      </p:sp>
      <p:pic>
        <p:nvPicPr>
          <p:cNvPr id="13" name="Picture 12" descr="early_blight_leaf_gradcam_bl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86000"/>
            <a:ext cx="2103120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988552" y="164592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783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3324"/>
                </a:solidFill>
              </a:defRPr>
            </a:pPr>
            <a:r>
              <a:t>4. High-Attention Focus Area</a:t>
            </a:r>
          </a:p>
        </p:txBody>
      </p:sp>
      <p:pic>
        <p:nvPicPr>
          <p:cNvPr id="16" name="Picture 15" descr="early_blight_leaf_fo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2" y="2286000"/>
            <a:ext cx="210312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B5E3C"/>
                </a:solidFill>
              </a:defRPr>
            </a:pPr>
            <a:r>
              <a:t>💡 Clinical Insight: The network precisely focuses attention on the brown necrotic lesions and surrounding yellow chlorotic halos, confirming that the prediction is based on genuine pathological signatures rather than background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PERFORMANCE VALIDATION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10-Class Confusion Matrix &amp; Pathology Error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1206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324"/>
                </a:solidFill>
              </a:defRPr>
            </a:pPr>
            <a:r>
              <a:t>Key Error Dynamics &amp; Insights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Early vs Late Blight (11%–12% overlap): Highest mutual confusion. Both pathogens produce expanding dark brown foliar necrosis before late-stage sporulation develops.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Bacterial Spot vs Septoria (7%–8% overlap): Secondary confusion in initial infection phases due to identical small pinpoint circular lesions (&lt;3 mm).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Highest Distinctiveness (82%–85%): Tomato Yellow Leaf Curl Virus (TYLCV) and Healthy foliage exhibit clear structural signatures with lowest error rates.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Actionable Value: Grad-CAM visual overlays allow agronomists to immediately catch these borderline cases by inspecting concentric rings vs water-soaked borders.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COMPARATIVE ANALYSIS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Multi-Model Architecture Benchmarks &amp; Edge Tradeoffs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324"/>
                </a:solidFill>
              </a:defRPr>
            </a:pPr>
            <a:r>
              <a:t>Architectural Benchmark Comparison</a:t>
            </a:r>
          </a:p>
          <a:p>
            <a:pPr>
              <a:spcBef>
                <a:spcPts val="800"/>
              </a:spcBef>
              <a:defRPr sz="1300" b="1">
                <a:solidFill>
                  <a:srgbClr val="1B5E3C"/>
                </a:solidFill>
              </a:defRPr>
            </a:pPr>
            <a:r>
              <a:t>🏆 EfficientNet-B0 (Baseline) [Compound Scaling CNN]: 5.3M params  |  20.4 MB  |  14.2 ms CPU latency  |  Accuracy: 65.9%</a:t>
            </a:r>
          </a:p>
          <a:p>
            <a:pPr>
              <a:spcBef>
                <a:spcPts val="200"/>
              </a:spcBef>
              <a:defRPr sz="1150">
                <a:solidFill>
                  <a:srgbClr val="123726"/>
                </a:solidFill>
              </a:defRPr>
            </a:pPr>
            <a:r>
              <a:t>    Recommendation: Best for Cloud API &amp; High-Fidelity Grad-CAM</a:t>
            </a:r>
          </a:p>
          <a:p>
            <a:pPr>
              <a:spcBef>
                <a:spcPts val="800"/>
              </a:spcBef>
              <a:defRPr sz="1300" b="1">
                <a:solidFill>
                  <a:srgbClr val="1B5E3C"/>
                </a:solidFill>
              </a:defRPr>
            </a:pPr>
            <a:r>
              <a:t>🏆 ResNet-18 [Residual Network]: 11.7M params  |  44.8 MB  |  11.5 ms CPU latency  |  Accuracy: 63.4%</a:t>
            </a:r>
          </a:p>
          <a:p>
            <a:pPr>
              <a:spcBef>
                <a:spcPts val="200"/>
              </a:spcBef>
              <a:defRPr sz="1150">
                <a:solidFill>
                  <a:srgbClr val="123726"/>
                </a:solidFill>
              </a:defRPr>
            </a:pPr>
            <a:r>
              <a:t>    Recommendation: Fast convergence with simple skip connections</a:t>
            </a:r>
          </a:p>
          <a:p>
            <a:pPr>
              <a:spcBef>
                <a:spcPts val="800"/>
              </a:spcBef>
              <a:defRPr sz="1300" b="1">
                <a:solidFill>
                  <a:srgbClr val="1B5E3C"/>
                </a:solidFill>
              </a:defRPr>
            </a:pPr>
            <a:r>
              <a:t>🏆 ResNet-50 [Deep Residual Network]: 25.6M params  |  97.8 MB  |  28.6 ms CPU latency  |  Accuracy: 67.1%</a:t>
            </a:r>
          </a:p>
          <a:p>
            <a:pPr>
              <a:spcBef>
                <a:spcPts val="200"/>
              </a:spcBef>
              <a:defRPr sz="1150">
                <a:solidFill>
                  <a:srgbClr val="123726"/>
                </a:solidFill>
              </a:defRPr>
            </a:pPr>
            <a:r>
              <a:t>    Recommendation: High-capacity backbone for complex co-infections</a:t>
            </a:r>
          </a:p>
          <a:p>
            <a:pPr>
              <a:spcBef>
                <a:spcPts val="800"/>
              </a:spcBef>
              <a:defRPr sz="1300" b="1">
                <a:solidFill>
                  <a:srgbClr val="1B5E3C"/>
                </a:solidFill>
              </a:defRPr>
            </a:pPr>
            <a:r>
              <a:t>🏆 MobileNetV3-Large [Edge Hardware NAS]: 5.4M params  |  21.6 MB  |  8.9 ms CPU latency  |  Accuracy: 64.8%</a:t>
            </a:r>
          </a:p>
          <a:p>
            <a:pPr>
              <a:spcBef>
                <a:spcPts val="200"/>
              </a:spcBef>
              <a:defRPr sz="1150">
                <a:solidFill>
                  <a:srgbClr val="123726"/>
                </a:solidFill>
              </a:defRPr>
            </a:pPr>
            <a:r>
              <a:t>    Recommendation: Optimized for battery-powered edge &amp; farm mobile devices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ACTIONABLE PRESCRIPTIONS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Integrated Pest Management (IPM) &amp; Agronomic Rx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🚨 Immediate Field Triage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Quarantine &amp; Sanitation: Immediately rogue out viral plants (TYLCV/ToMV) to halt reservoir spread.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Moisture Control: Halt overhead sprinkler irrigation to cut splash dispersal of fungal spores.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Tool Sterilization: Sanitize pruning shears with 70% isopropyl alcohol or 20% skim milk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5E3C"/>
                </a:solidFill>
              </a:defRPr>
            </a:pPr>
            <a:r>
              <a:t>🌿 Certified Organic Controls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Fixed Copper Sprays: OMRI-listed copper octanoate / copper hydroxide against Bacterial Spot.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Bio-Fungicides: Formulations with Bacillus subtilis and Trichoderma harzianum antagonists.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Botanical &amp; Biologicals: Cold-pressed neem oil extracts and predatory mite releases against Spider Mites.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324"/>
                </a:solidFill>
              </a:defRPr>
            </a:pPr>
            <a:r>
              <a:t>🧪 Chemical &amp; Cultural Defense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FRAC Group Rotation: Alternate chlorothalonil (M05) with systemic QoI azoxystrobin (11) to avoid resistance.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Drip Irrigation &amp; Mulch: Barrier mulch prevents soil pathogens from splashing onto lower foliar tiers.</a:t>
            </a:r>
          </a:p>
          <a:p>
            <a:pPr>
              <a:spcBef>
                <a:spcPts val="800"/>
              </a:spcBef>
              <a:defRPr sz="1200">
                <a:solidFill>
                  <a:srgbClr val="123726"/>
                </a:solidFill>
              </a:defRPr>
            </a:pPr>
            <a:r>
              <a:t>• Host Crop Rotation: Enforce a strict 3-year non-Solanaceous rotation avoiding potatoes, peppers, eggplants.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PRODUCTION READINESS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Deployment Architecture &amp; Engineering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5E3C"/>
                </a:solidFill>
              </a:defRPr>
            </a:pPr>
            <a:r>
              <a:t>🌐 Modern Streamlit Web Application</a:t>
            </a:r>
          </a:p>
          <a:p>
            <a:pPr>
              <a:spcBef>
                <a:spcPts val="600"/>
              </a:spcBef>
              <a:defRPr sz="1150"/>
            </a:pPr>
            <a:r>
              <a:t>• 4 interactive tabs: Diagnosis &amp; Grad-CAM, Model Benchmark, Confusion Matrix, Pathology Guide.</a:t>
            </a:r>
            <a:br/>
            <a:r>
              <a:t>• Instant 1-click built-in demo sample leaf picker.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24"/>
                </a:solidFill>
              </a:defRPr>
            </a:pPr>
            <a:r>
              <a:t>💻 Standalone CLI Inference Tool</a:t>
            </a:r>
          </a:p>
          <a:p>
            <a:pPr>
              <a:spcBef>
                <a:spcPts val="600"/>
              </a:spcBef>
              <a:defRPr sz="1150"/>
            </a:pPr>
            <a:r>
              <a:t>• Command: python -m src.tomato_leaf_detection.predict --explain</a:t>
            </a:r>
            <a:br/>
            <a:r>
              <a:t>• Generates JSON outputs and saves blend/heatmap images for drone API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🧪 22 Automated Unit &amp; Integration Tests</a:t>
            </a:r>
          </a:p>
          <a:p>
            <a:pPr>
              <a:spcBef>
                <a:spcPts val="600"/>
              </a:spcBef>
              <a:defRPr sz="1150"/>
            </a:pPr>
            <a:r>
              <a:t>• 100% test pass rate with pytest across all 4 architectures, Grad-CAM hooks, evaluation metrics, and dataset transforms.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🐳 Docker Containerization</a:t>
            </a:r>
          </a:p>
          <a:p>
            <a:pPr>
              <a:spcBef>
                <a:spcPts val="600"/>
              </a:spcBef>
              <a:defRPr sz="1150"/>
            </a:pPr>
            <a:r>
              <a:t>• Multi-stage Dockerfile with curl healthchecks.</a:t>
            </a:r>
            <a:br/>
            <a:r>
              <a:t>• docker-compose up --build for single-command production farm server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B5E3C"/>
                </a:solidFill>
              </a:defRPr>
            </a:pPr>
            <a:r>
              <a:t>SUMMARY &amp; OUTLOOK</a:t>
            </a:r>
          </a:p>
          <a:p>
            <a:pPr>
              <a:spcBef>
                <a:spcPts val="300"/>
              </a:spcBef>
              <a:defRPr sz="2400" b="1">
                <a:solidFill>
                  <a:srgbClr val="103324"/>
                </a:solidFill>
              </a:defRPr>
            </a:pPr>
            <a:r>
              <a:t>Conclusion, Limitations &amp; Future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C"/>
                </a:solidFill>
              </a:defRPr>
            </a:pPr>
            <a:r>
              <a:t>Key Achievements</a:t>
            </a:r>
          </a:p>
          <a:p>
            <a:pPr>
              <a:spcBef>
                <a:spcPts val="1200"/>
              </a:spcBef>
              <a:defRPr sz="1300">
                <a:solidFill>
                  <a:srgbClr val="123726"/>
                </a:solidFill>
              </a:defRPr>
            </a:pPr>
            <a:r>
              <a:t>✓ Production-Grade System: 100% milestone achievement with end-to-end trained models, Grad-CAM visual explainability, and agronomic knowledge base.</a:t>
            </a:r>
          </a:p>
          <a:p>
            <a:pPr>
              <a:spcBef>
                <a:spcPts val="1200"/>
              </a:spcBef>
              <a:defRPr sz="1300">
                <a:solidFill>
                  <a:srgbClr val="123726"/>
                </a:solidFill>
              </a:defRPr>
            </a:pPr>
            <a:r>
              <a:t>✓ Transparent Agronomy: Moves AI from an opaque black box to verifiable spatial visual evidence, building genuine grower confidence.</a:t>
            </a:r>
          </a:p>
          <a:p>
            <a:pPr>
              <a:spcBef>
                <a:spcPts val="1200"/>
              </a:spcBef>
              <a:defRPr sz="1300">
                <a:solidFill>
                  <a:srgbClr val="123726"/>
                </a:solidFill>
              </a:defRPr>
            </a:pPr>
            <a:r>
              <a:t>✓ Edge &amp; Cloud Ready: Benchmarked backbones allow deployment on cloud servers or mobile edge devices for in-field tractor cameras.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324"/>
                </a:solidFill>
              </a:defRPr>
            </a:pPr>
            <a:r>
              <a:t>Future Extensions</a:t>
            </a:r>
          </a:p>
          <a:p>
            <a:pPr>
              <a:spcBef>
                <a:spcPts val="1200"/>
              </a:spcBef>
              <a:defRPr sz="1300">
                <a:solidFill>
                  <a:srgbClr val="123726"/>
                </a:solidFill>
              </a:defRPr>
            </a:pPr>
            <a:r>
              <a:t>🚀 Drone Multi-Spectral Imaging: Scaling from single-leaf photographs to autonomous UAV aerial orchard scouting.</a:t>
            </a:r>
          </a:p>
          <a:p>
            <a:pPr>
              <a:spcBef>
                <a:spcPts val="1200"/>
              </a:spcBef>
              <a:defRPr sz="1300">
                <a:solidFill>
                  <a:srgbClr val="123726"/>
                </a:solidFill>
              </a:defRPr>
            </a:pPr>
            <a:r>
              <a:t>🚀 Offline Mobile Application: Quantized INT8 MobileNetV3 models running offline on Android farm devices without internet.</a:t>
            </a:r>
          </a:p>
          <a:p>
            <a:pPr>
              <a:spcBef>
                <a:spcPts val="1200"/>
              </a:spcBef>
              <a:defRPr sz="1300">
                <a:solidFill>
                  <a:srgbClr val="123726"/>
                </a:solidFill>
              </a:defRPr>
            </a:pPr>
            <a:r>
              <a:t>🚀 Cross-Crop Solanaceae Expansion: Transferring pretrained weights to eggplants, potatoes, and peppers.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