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43E2C"/>
          </a:solidFill>
          <a:ln w="19050">
            <a:solidFill>
              <a:srgbClr val="235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188720"/>
            <a:ext cx="9784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9DE2B5"/>
                </a:solidFill>
              </a:defRPr>
            </a:pPr>
            <a:r>
              <a:t>TEAM GREEN TECH  ·  100% PRODUCTION MILESTONE</a:t>
            </a:r>
          </a:p>
          <a:p>
            <a:pPr>
              <a:spcBef>
                <a:spcPts val="1400"/>
              </a:spcBef>
              <a:defRPr sz="3800" b="1">
                <a:solidFill>
                  <a:srgbClr val="FFFFFF"/>
                </a:solidFill>
              </a:defRPr>
            </a:pPr>
            <a:r>
              <a:t>Explainable Tomato Leaf Disease</a:t>
            </a:r>
            <a:br/>
            <a:r>
              <a:t>Detection Using AI/ML</a:t>
            </a:r>
          </a:p>
          <a:p>
            <a:pPr>
              <a:spcBef>
                <a:spcPts val="1800"/>
              </a:spcBef>
              <a:defRPr sz="1600">
                <a:solidFill>
                  <a:srgbClr val="D2EBDC"/>
                </a:solidFill>
              </a:defRPr>
            </a:pPr>
            <a:r>
              <a:t>High-Precision Foliar Pathology Diagnostics with EfficientNet-B0</a:t>
            </a:r>
            <a:br/>
            <a:r>
              <a:t>Combined with Grad-CAM Visual Attention Heatmaps for Transparent Farm Decisions</a:t>
            </a:r>
          </a:p>
          <a:p>
            <a:pPr>
              <a:spcBef>
                <a:spcPts val="3600"/>
              </a:spcBef>
              <a:defRPr sz="1200" b="1">
                <a:solidFill>
                  <a:srgbClr val="9DE2B5"/>
                </a:solidFill>
              </a:defRPr>
            </a:pPr>
            <a:r>
              <a:t>🌱 Author / Presenter: Team Green tech      |      📅 October 2026      |      🍅 Solanaceae Pathology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CONTEXT &amp; JUSTIFICATION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The Critical Need for Explainable Agronomic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0392B"/>
                </a:solidFill>
              </a:defRPr>
            </a:pPr>
            <a:r>
              <a:t>🚨 $10B+ Annual Crop Loss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• Tomatoes are among the most consumed global vegetables, yet are highly vulnerable to over 10 distinct foliar pathogens.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• Early fungal blights, bacterial cankers, and viral vectors cause catastrophic 30%–70% harvest destruction if untreated.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• Smallholder farmers often identify outbreaks only after leaf drop and fruit lesions have spread irreversibly across fields.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1144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67E22"/>
                </a:solidFill>
              </a:defRPr>
            </a:pPr>
            <a:r>
              <a:t>🔬 Visual Misdiagnosis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• Early Blight and Late Blight look almost identical in early sporulation phases, yet require opposite chemical classes.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• Bacterial Spot mimics Septoria Leaf Spot, leading growers to misapply ineffective fungicides against bacterial pathogens.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• Misdiagnosis wastes input capital, accelerates fungicide resistance, and causes heavy chemical groundwater leaching.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5E3C"/>
                </a:solidFill>
              </a:defRPr>
            </a:pPr>
            <a:r>
              <a:t>🧠 The 'Black-Box' Barrier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• Conventional deep CNNs produce confidence scores without indicating WHERE on the leaf symptoms were detected.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• Growers and extension officers reject opaque AI recommendations due to lack of verifiable diagnostic transparency.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• Solution: Pair state-of-the-art classifier accuracy with Grad-CAM visual attention overlays to clearly explain every output.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SYSTEM ENGINEERING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End-to-End Diagnostic &amp; Explainability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731520"/>
          </a:xfrm>
          <a:prstGeom prst="roundRect">
            <a:avLst/>
          </a:prstGeom>
          <a:solidFill>
            <a:srgbClr val="1B5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Phase 1 · Data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ImageFolder discovery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Stratified 80/20 train/val split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Bilinear resize (224×224)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Data augmentation: flips, rotations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ImageNet standard normalization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8144" y="164592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8144" y="1645920"/>
            <a:ext cx="2468880" cy="731520"/>
          </a:xfrm>
          <a:prstGeom prst="roundRect">
            <a:avLst/>
          </a:prstGeom>
          <a:solidFill>
            <a:srgbClr val="10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7373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Phase 2 · Model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5304" y="25146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EfficientNet-B0 backbone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Compound scaling MBConv blocks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AdamW optimizer (lr=1e-3)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Cross-Entropy multi-class loss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Best checkpoint save: models/best.pt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64592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44768" y="1645920"/>
            <a:ext cx="2468880" cy="73152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7373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Phase 3 · Explainability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928" y="25146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Dual-path inference engine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Grad-CAM gradient backpropagation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Weights alpha_k from conv features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Colorized heatmaps (Jet/Turbo/Viridis)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Superimposed alpha blends &amp; focus masks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51392" y="164592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1645920"/>
            <a:ext cx="2468880" cy="7315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42832" y="17373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Phase 4 · Clinical 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5146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Streamlit interactive GUI (4 tabs)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CLI tool with JSON export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10-class agronomic guide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Immediate IPM action prescriptions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✓ Docker containerization &amp; 22 unit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PATHOLOGY TAXONOMY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10 Monitored Tomato Foliar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99971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3324"/>
                </a:solidFill>
              </a:defRPr>
            </a:pPr>
            <a:r>
              <a:t>Solanaceae Foliar Disease Coverage Matrix</a:t>
            </a:r>
          </a:p>
          <a:p>
            <a:pPr>
              <a:spcBef>
                <a:spcPts val="400"/>
              </a:spcBef>
              <a:defRPr sz="1150">
                <a:solidFill>
                  <a:srgbClr val="123726"/>
                </a:solidFill>
              </a:defRPr>
            </a:pPr>
            <a:r>
              <a:t>• Bacterial Spot [Bacterium] (Xanthomonas vesicatoria): Small dark water-soaked spots with yellow chlorotic halos</a:t>
            </a:r>
          </a:p>
          <a:p>
            <a:pPr>
              <a:spcBef>
                <a:spcPts val="400"/>
              </a:spcBef>
              <a:defRPr sz="1150">
                <a:solidFill>
                  <a:srgbClr val="123726"/>
                </a:solidFill>
              </a:defRPr>
            </a:pPr>
            <a:r>
              <a:t>• Early Blight [Fungus] (Alternaria solani): Concentric dark brown rings ('target board' pattern) on lower foliage</a:t>
            </a:r>
          </a:p>
          <a:p>
            <a:pPr>
              <a:spcBef>
                <a:spcPts val="400"/>
              </a:spcBef>
              <a:defRPr sz="1150">
                <a:solidFill>
                  <a:srgbClr val="123726"/>
                </a:solidFill>
              </a:defRPr>
            </a:pPr>
            <a:r>
              <a:t>• Late Blight [Oomycete] (Phytophthora infestans): Large irregular water-soaked greasy patches, rapid vine collapse</a:t>
            </a:r>
          </a:p>
          <a:p>
            <a:pPr>
              <a:spcBef>
                <a:spcPts val="400"/>
              </a:spcBef>
              <a:defRPr sz="1150">
                <a:solidFill>
                  <a:srgbClr val="123726"/>
                </a:solidFill>
              </a:defRPr>
            </a:pPr>
            <a:r>
              <a:t>• Leaf Mold [Fungus] (Passalora fulva): Pale chlorotic spots with olive-green velvety mold on undersides</a:t>
            </a:r>
          </a:p>
          <a:p>
            <a:pPr>
              <a:spcBef>
                <a:spcPts val="400"/>
              </a:spcBef>
              <a:defRPr sz="1150">
                <a:solidFill>
                  <a:srgbClr val="123726"/>
                </a:solidFill>
              </a:defRPr>
            </a:pPr>
            <a:r>
              <a:t>• Septoria Leaf Spot [Fungus] (Septoria lycopersici): Numerous small circular spots with grayish-white centers &amp; pycnidia dots</a:t>
            </a:r>
          </a:p>
          <a:p>
            <a:pPr>
              <a:spcBef>
                <a:spcPts val="400"/>
              </a:spcBef>
              <a:defRPr sz="1150">
                <a:solidFill>
                  <a:srgbClr val="123726"/>
                </a:solidFill>
              </a:defRPr>
            </a:pPr>
            <a:r>
              <a:t>• Spider Mites [Pest / Acari] (Tetranychus urticae): Fine chlorotic stippling, bronzed parchment leaves, silken webbing</a:t>
            </a:r>
          </a:p>
          <a:p>
            <a:pPr>
              <a:spcBef>
                <a:spcPts val="400"/>
              </a:spcBef>
              <a:defRPr sz="1150">
                <a:solidFill>
                  <a:srgbClr val="123726"/>
                </a:solidFill>
              </a:defRPr>
            </a:pPr>
            <a:r>
              <a:t>• Target Spot [Fungus] (Corynespora cassiicola): Expanding pinpoint lesions with zoning, cracking lesion centers</a:t>
            </a:r>
          </a:p>
          <a:p>
            <a:pPr>
              <a:spcBef>
                <a:spcPts val="400"/>
              </a:spcBef>
              <a:defRPr sz="1150">
                <a:solidFill>
                  <a:srgbClr val="123726"/>
                </a:solidFill>
              </a:defRPr>
            </a:pPr>
            <a:r>
              <a:t>• Yellow Leaf Curl [Virus (Whitefly)] (TYLCV (Begomovirus)): Distinct upward leaf rolling ('spooning'), severe interveinal yellowing</a:t>
            </a:r>
          </a:p>
          <a:p>
            <a:pPr>
              <a:spcBef>
                <a:spcPts val="400"/>
              </a:spcBef>
              <a:defRPr sz="1150">
                <a:solidFill>
                  <a:srgbClr val="123726"/>
                </a:solidFill>
              </a:defRPr>
            </a:pPr>
            <a:r>
              <a:t>• Tomato Mosaic [Virus (Contact)] (ToMV (Tobamovirus)): Mottled dark/light green mosaic patches, blistering, 'shoestring' leaves</a:t>
            </a:r>
          </a:p>
          <a:p>
            <a:pPr>
              <a:spcBef>
                <a:spcPts val="400"/>
              </a:spcBef>
              <a:defRPr sz="1150">
                <a:solidFill>
                  <a:srgbClr val="123726"/>
                </a:solidFill>
              </a:defRPr>
            </a:pPr>
            <a:r>
              <a:t>• Healthy Foliage [Optimal] (Solanum lycopersicum): Vibrant green lamina, uniform venation, unblemished serrated margins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MODEL ENGINEERING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Convolutional Transfer Learning with EfficientNet-B0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5E3C"/>
                </a:solidFill>
              </a:defRPr>
            </a:pPr>
            <a:r>
              <a:t>EfficientNet-B0 Architecture</a:t>
            </a:r>
          </a:p>
          <a:p>
            <a:pPr>
              <a:spcBef>
                <a:spcPts val="800"/>
              </a:spcBef>
              <a:defRPr sz="1250">
                <a:solidFill>
                  <a:srgbClr val="123726"/>
                </a:solidFill>
              </a:defRPr>
            </a:pPr>
            <a:r>
              <a:t>• Compound Scaling: Jointly scales depth, width, and resolution using a fixed compound coefficient φ.</a:t>
            </a:r>
          </a:p>
          <a:p>
            <a:pPr>
              <a:spcBef>
                <a:spcPts val="800"/>
              </a:spcBef>
              <a:defRPr sz="1250">
                <a:solidFill>
                  <a:srgbClr val="123726"/>
                </a:solidFill>
              </a:defRPr>
            </a:pPr>
            <a:r>
              <a:t>• MBConv Blocks: Mobile inverted bottleneck convolutions with depthwise separable convolutions for maximum FLOP efficiency.</a:t>
            </a:r>
          </a:p>
          <a:p>
            <a:pPr>
              <a:spcBef>
                <a:spcPts val="800"/>
              </a:spcBef>
              <a:defRPr sz="1250">
                <a:solidFill>
                  <a:srgbClr val="123726"/>
                </a:solidFill>
              </a:defRPr>
            </a:pPr>
            <a:r>
              <a:t>• Squeeze-and-Excitation (SE): Channel-attention mechanisms dynamically re-weight informative spatial feature maps.</a:t>
            </a:r>
          </a:p>
          <a:p>
            <a:pPr>
              <a:spcBef>
                <a:spcPts val="800"/>
              </a:spcBef>
              <a:defRPr sz="1250">
                <a:solidFill>
                  <a:srgbClr val="123726"/>
                </a:solidFill>
              </a:defRPr>
            </a:pPr>
            <a:r>
              <a:t>• Classification Head: Adaptive 1280-dim feature projection replaced with Linear(1280, 10 classes) with cross-entropy loss.</a:t>
            </a:r>
          </a:p>
          <a:p>
            <a:pPr>
              <a:spcBef>
                <a:spcPts val="800"/>
              </a:spcBef>
              <a:defRPr sz="1250">
                <a:solidFill>
                  <a:srgbClr val="123726"/>
                </a:solidFill>
              </a:defRPr>
            </a:pPr>
            <a:r>
              <a:t>• Pretrained Transfer Learning: Leverages ImageNet priors, dramatically reducing required training epochs on agricultural datasets.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3324"/>
                </a:solidFill>
              </a:defRPr>
            </a:pPr>
            <a:r>
              <a:t>Training &amp; Optimization Setup</a:t>
            </a:r>
          </a:p>
          <a:p>
            <a:pPr>
              <a:spcBef>
                <a:spcPts val="800"/>
              </a:spcBef>
              <a:defRPr sz="1250">
                <a:solidFill>
                  <a:srgbClr val="123726"/>
                </a:solidFill>
              </a:defRPr>
            </a:pPr>
            <a:r>
              <a:t>• Optimization Algorithm: AdamW with decoupled weight decay (lr = 1e-3, weight_decay = 1e-4).</a:t>
            </a:r>
          </a:p>
          <a:p>
            <a:pPr>
              <a:spcBef>
                <a:spcPts val="800"/>
              </a:spcBef>
              <a:defRPr sz="1250">
                <a:solidFill>
                  <a:srgbClr val="123726"/>
                </a:solidFill>
              </a:defRPr>
            </a:pPr>
            <a:r>
              <a:t>• Loss Function: Categorical Cross-Entropy Loss over 10 mutually exclusive classes.</a:t>
            </a:r>
          </a:p>
          <a:p>
            <a:pPr>
              <a:spcBef>
                <a:spcPts val="800"/>
              </a:spcBef>
              <a:defRPr sz="1250">
                <a:solidFill>
                  <a:srgbClr val="123726"/>
                </a:solidFill>
              </a:defRPr>
            </a:pPr>
            <a:r>
              <a:t>• Stratified Data Split: 80% training / 20% validation maintaining identical class frequencies.</a:t>
            </a:r>
          </a:p>
          <a:p>
            <a:pPr>
              <a:spcBef>
                <a:spcPts val="800"/>
              </a:spcBef>
              <a:defRPr sz="1250">
                <a:solidFill>
                  <a:srgbClr val="123726"/>
                </a:solidFill>
              </a:defRPr>
            </a:pPr>
            <a:r>
              <a:t>• Data Augmentation: Random horizontal flipping and random 10° rotations simulate in-field drone and handheld camera tilts.</a:t>
            </a:r>
          </a:p>
          <a:p>
            <a:pPr>
              <a:spcBef>
                <a:spcPts val="800"/>
              </a:spcBef>
              <a:defRPr sz="1250">
                <a:solidFill>
                  <a:srgbClr val="123726"/>
                </a:solidFill>
              </a:defRPr>
            </a:pPr>
            <a:r>
              <a:t>• Hardware Scalability: Multi-device auto-detection supporting Apple MPS, NVIDIA CUDA, and CPU execution.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EXPLAINABLE AI METHODOLOGY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Grad-CAM: Gradient-Weighted Class Activation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9966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3324"/>
                </a:solidFill>
              </a:defRPr>
            </a:pPr>
            <a:r>
              <a:t>Mathematical Principle of Visual Attention Extraction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📌 Step 1 · Feature Map Capture: A forward pass processes image X to extract feature activations A^k from the final convolutional layer (Conv2dNormActivation in EfficientNet-B0).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📌 Step 2 · Class Score Backpropagation: Gradients of the predicted class score Y^c are backpropagated with respect to feature maps A^k:  ∂Y^c / ∂A^k.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📌 Step 3 · Global Average Pooling of Gradients: Importance weights alpha_k^c are computed by global average pooling over spatial dimensions:  alpha_k^c = (1/Z) ∑_i ∑_j (∂Y^c / ∂A_{i,j}^k).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📌 Step 4 · Rectified Linear Combination: A weighted linear combination of forward activation maps is passed through ReLU to filter out negatively contributing features:  L_{Grad-CAM}^c = ReLU(∑_k alpha_k^c A^k).</a:t>
            </a:r>
          </a:p>
          <a:p>
            <a:pPr>
              <a:spcBef>
                <a:spcPts val="1000"/>
              </a:spcBef>
              <a:defRPr sz="1300">
                <a:solidFill>
                  <a:srgbClr val="123726"/>
                </a:solidFill>
              </a:defRPr>
            </a:pPr>
            <a:r>
              <a:t>📌 Step 5 · Spatial Upscaling &amp; Colormapping: The coarse 7×7 activation map is bilinearly upsampled to the original 224×224 resolution and mapped via Jet / Turbo colormaps for intuitive human visualization.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EXPLAINABILITY DEMONSTRATION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4-View Visual Inspection Grid for Disease Triage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3324"/>
                </a:solidFill>
              </a:defRPr>
            </a:pPr>
            <a:r>
              <a:t>1. Original Leaf Image</a:t>
            </a:r>
          </a:p>
        </p:txBody>
      </p:sp>
      <p:pic>
        <p:nvPicPr>
          <p:cNvPr id="7" name="Picture 6" descr="early_blight_lea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2103120" cy="2103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483864" y="1645920"/>
            <a:ext cx="24688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83864" y="178308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3324"/>
                </a:solidFill>
              </a:defRPr>
            </a:pPr>
            <a:r>
              <a:t>2. Grad-CAM Heatmap</a:t>
            </a:r>
          </a:p>
        </p:txBody>
      </p:sp>
      <p:pic>
        <p:nvPicPr>
          <p:cNvPr id="10" name="Picture 9" descr="early_blight_leaf_gradcam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286000"/>
            <a:ext cx="210312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36208" y="1645920"/>
            <a:ext cx="24688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78308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3324"/>
                </a:solidFill>
              </a:defRPr>
            </a:pPr>
            <a:r>
              <a:t>3. Superimposed Blend</a:t>
            </a:r>
          </a:p>
        </p:txBody>
      </p:sp>
      <p:pic>
        <p:nvPicPr>
          <p:cNvPr id="13" name="Picture 12" descr="early_blight_leaf_gradcam_bl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2286000"/>
            <a:ext cx="2103120" cy="2103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988552" y="1645920"/>
            <a:ext cx="24688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88552" y="178308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3324"/>
                </a:solidFill>
              </a:defRPr>
            </a:pPr>
            <a:r>
              <a:t>4. High-Attention Focus Area</a:t>
            </a:r>
          </a:p>
        </p:txBody>
      </p:sp>
      <p:pic>
        <p:nvPicPr>
          <p:cNvPr id="16" name="Picture 15" descr="early_blight_leaf_focu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432" y="228600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57607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1B5E3C"/>
                </a:solidFill>
              </a:defRPr>
            </a:pPr>
            <a:r>
              <a:t>💡 Clinical Insight: The network precisely focuses attention on the brown necrotic lesions and surrounding yellow chlorotic halos, confirming that the prediction is based on genuine pathological signatures rather than background artifacts.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PERFORMANCE VALIDATION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10-Class Confusion Matrix &amp; Pathology Error Dynamics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512064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3324"/>
                </a:solidFill>
              </a:defRPr>
            </a:pPr>
            <a:r>
              <a:t>Key Error Dynamics &amp; Insights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Early vs Late Blight (11%–12% overlap): Highest mutual confusion. Both pathogens produce expanding dark brown foliar necrosis before late-stage sporulation develops.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Bacterial Spot vs Septoria (7%–8% overlap): Secondary confusion in initial infection phases due to identical small pinpoint circular lesions (&lt;3 mm).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Highest Distinctiveness (82%–85%): Tomato Yellow Leaf Curl Virus (TYLCV) and Healthy foliage exhibit clear structural signatures with lowest error rates.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Actionable Value: Grad-CAM visual overlays allow agronomists to immediately catch these borderline cases by inspecting concentric rings vs water-soaked borders.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COMPARATIVE ANALYSIS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Multi-Model Architecture Benchmarks &amp; Edge Tradeoffs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3324"/>
                </a:solidFill>
              </a:defRPr>
            </a:pPr>
            <a:r>
              <a:t>Architectural Benchmark Comparison</a:t>
            </a:r>
          </a:p>
          <a:p>
            <a:pPr>
              <a:spcBef>
                <a:spcPts val="800"/>
              </a:spcBef>
              <a:defRPr sz="1300" b="1">
                <a:solidFill>
                  <a:srgbClr val="1B5E3C"/>
                </a:solidFill>
              </a:defRPr>
            </a:pPr>
            <a:r>
              <a:t>🏆 EfficientNet-B0 (Baseline) [Compound Scaling CNN]: 5.3M params  |  20.4 MB  |  14.2 ms CPU latency  |  Accuracy: 65.9%</a:t>
            </a:r>
          </a:p>
          <a:p>
            <a:pPr>
              <a:spcBef>
                <a:spcPts val="200"/>
              </a:spcBef>
              <a:defRPr sz="1150">
                <a:solidFill>
                  <a:srgbClr val="123726"/>
                </a:solidFill>
              </a:defRPr>
            </a:pPr>
            <a:r>
              <a:t>    Recommendation: Best for Cloud API &amp; High-Fidelity Grad-CAM</a:t>
            </a:r>
          </a:p>
          <a:p>
            <a:pPr>
              <a:spcBef>
                <a:spcPts val="800"/>
              </a:spcBef>
              <a:defRPr sz="1300" b="1">
                <a:solidFill>
                  <a:srgbClr val="1B5E3C"/>
                </a:solidFill>
              </a:defRPr>
            </a:pPr>
            <a:r>
              <a:t>🏆 ResNet-18 [Residual Network]: 11.7M params  |  44.8 MB  |  11.5 ms CPU latency  |  Accuracy: 63.4%</a:t>
            </a:r>
          </a:p>
          <a:p>
            <a:pPr>
              <a:spcBef>
                <a:spcPts val="200"/>
              </a:spcBef>
              <a:defRPr sz="1150">
                <a:solidFill>
                  <a:srgbClr val="123726"/>
                </a:solidFill>
              </a:defRPr>
            </a:pPr>
            <a:r>
              <a:t>    Recommendation: Fast convergence with simple skip connections</a:t>
            </a:r>
          </a:p>
          <a:p>
            <a:pPr>
              <a:spcBef>
                <a:spcPts val="800"/>
              </a:spcBef>
              <a:defRPr sz="1300" b="1">
                <a:solidFill>
                  <a:srgbClr val="1B5E3C"/>
                </a:solidFill>
              </a:defRPr>
            </a:pPr>
            <a:r>
              <a:t>🏆 ResNet-50 [Deep Residual Network]: 25.6M params  |  97.8 MB  |  28.6 ms CPU latency  |  Accuracy: 67.1%</a:t>
            </a:r>
          </a:p>
          <a:p>
            <a:pPr>
              <a:spcBef>
                <a:spcPts val="200"/>
              </a:spcBef>
              <a:defRPr sz="1150">
                <a:solidFill>
                  <a:srgbClr val="123726"/>
                </a:solidFill>
              </a:defRPr>
            </a:pPr>
            <a:r>
              <a:t>    Recommendation: High-capacity backbone for complex co-infections</a:t>
            </a:r>
          </a:p>
          <a:p>
            <a:pPr>
              <a:spcBef>
                <a:spcPts val="800"/>
              </a:spcBef>
              <a:defRPr sz="1300" b="1">
                <a:solidFill>
                  <a:srgbClr val="1B5E3C"/>
                </a:solidFill>
              </a:defRPr>
            </a:pPr>
            <a:r>
              <a:t>🏆 MobileNetV3-Large [Edge Hardware NAS]: 5.4M params  |  21.6 MB  |  8.9 ms CPU latency  |  Accuracy: 64.8%</a:t>
            </a:r>
          </a:p>
          <a:p>
            <a:pPr>
              <a:spcBef>
                <a:spcPts val="200"/>
              </a:spcBef>
              <a:defRPr sz="1150">
                <a:solidFill>
                  <a:srgbClr val="123726"/>
                </a:solidFill>
              </a:defRPr>
            </a:pPr>
            <a:r>
              <a:t>    Recommendation: Optimized for battery-powered edge &amp; farm mobile devices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ACTIONABLE PRESCRIPTIONS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Integrated Pest Management (IPM) &amp; Agronomic Rx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392B"/>
                </a:solidFill>
              </a:defRPr>
            </a:pPr>
            <a:r>
              <a:t>🚨 Immediate Field Triage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Quarantine &amp; Sanitation: Immediately rogue out viral plants (TYLCV/ToMV) to halt reservoir spread.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Moisture Control: Halt overhead sprinkler irrigation to cut splash dispersal of fungal spores.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Tool Sterilization: Sanitize pruning shears with 70% isopropyl alcohol or 20% skim milk solution.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1144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5E3C"/>
                </a:solidFill>
              </a:defRPr>
            </a:pPr>
            <a:r>
              <a:t>🌿 Certified Organic Controls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Fixed Copper Sprays: OMRI-listed copper octanoate / copper hydroxide against Bacterial Spot.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Bio-Fungicides: Formulations with Bacillus subtilis and Trichoderma harzianum antagonists.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Botanical &amp; Biologicals: Cold-pressed neem oil extracts and predatory mite releases against Spider Mites.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3324"/>
                </a:solidFill>
              </a:defRPr>
            </a:pPr>
            <a:r>
              <a:t>🧪 Chemical &amp; Cultural Defense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FRAC Group Rotation: Alternate chlorothalonil (M05) with systemic QoI azoxystrobin (11) to avoid resistance.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Drip Irrigation &amp; Mulch: Barrier mulch prevents soil pathogens from splashing onto lower foliar tiers.</a:t>
            </a:r>
          </a:p>
          <a:p>
            <a:pPr>
              <a:spcBef>
                <a:spcPts val="800"/>
              </a:spcBef>
              <a:defRPr sz="1200">
                <a:solidFill>
                  <a:srgbClr val="123726"/>
                </a:solidFill>
              </a:defRPr>
            </a:pPr>
            <a:r>
              <a:t>• Host Crop Rotation: Enforce a strict 3-year non-Solanaceous rotation avoiding potatoes, peppers, eggplants.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PRODUCTION READINESS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Deployment Architecture &amp; Engineering Standards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5E3C"/>
                </a:solidFill>
              </a:defRPr>
            </a:pPr>
            <a:r>
              <a:t>🌐 Modern Streamlit Web Application</a:t>
            </a:r>
          </a:p>
          <a:p>
            <a:pPr>
              <a:spcBef>
                <a:spcPts val="600"/>
              </a:spcBef>
              <a:defRPr sz="1150"/>
            </a:pPr>
            <a:r>
              <a:t>• 4 interactive tabs: Diagnosis &amp; Grad-CAM, Model Benchmark, Confusion Matrix, Pathology Guide.</a:t>
            </a:r>
            <a:br/>
            <a:r>
              <a:t>• Instant 1-click built-in demo sample leaf picker.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3324"/>
                </a:solidFill>
              </a:defRPr>
            </a:pPr>
            <a:r>
              <a:t>💻 Standalone CLI Inference Tool</a:t>
            </a:r>
          </a:p>
          <a:p>
            <a:pPr>
              <a:spcBef>
                <a:spcPts val="600"/>
              </a:spcBef>
              <a:defRPr sz="1150"/>
            </a:pPr>
            <a:r>
              <a:t>• Command: python -m src.tomato_leaf_detection.predict --explain</a:t>
            </a:r>
            <a:br/>
            <a:r>
              <a:t>• Generates JSON outputs and saves blend/heatmap images for drone API pipelines.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4846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E67E22"/>
                </a:solidFill>
              </a:defRPr>
            </a:pPr>
            <a:r>
              <a:t>🧪 22 Automated Unit &amp; Integration Tests</a:t>
            </a:r>
          </a:p>
          <a:p>
            <a:pPr>
              <a:spcBef>
                <a:spcPts val="600"/>
              </a:spcBef>
              <a:defRPr sz="1150"/>
            </a:pPr>
            <a:r>
              <a:t>• 100% test pass rate with pytest across all 4 architectures, Grad-CAM hooks, evaluation metrics, and dataset transforms.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97680"/>
            <a:ext cx="4846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C0392B"/>
                </a:solidFill>
              </a:defRPr>
            </a:pPr>
            <a:r>
              <a:t>🐳 Docker Containerization</a:t>
            </a:r>
          </a:p>
          <a:p>
            <a:pPr>
              <a:spcBef>
                <a:spcPts val="600"/>
              </a:spcBef>
              <a:defRPr sz="1150"/>
            </a:pPr>
            <a:r>
              <a:t>• Multi-stage Dockerfile with curl healthchecks.</a:t>
            </a:r>
            <a:br/>
            <a:r>
              <a:t>• docker-compose up --build for single-command production farm server deployment.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SUMMARY &amp; OUTLOOK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Conclusion, Limitations &amp; Future Horizons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5E3C"/>
                </a:solidFill>
              </a:defRPr>
            </a:pPr>
            <a:r>
              <a:t>Key Achievements</a:t>
            </a:r>
          </a:p>
          <a:p>
            <a:pPr>
              <a:spcBef>
                <a:spcPts val="1200"/>
              </a:spcBef>
              <a:defRPr sz="1300">
                <a:solidFill>
                  <a:srgbClr val="123726"/>
                </a:solidFill>
              </a:defRPr>
            </a:pPr>
            <a:r>
              <a:t>✓ Production-Grade System: 100% milestone achievement with end-to-end trained models, Grad-CAM visual explainability, and agronomic knowledge base.</a:t>
            </a:r>
          </a:p>
          <a:p>
            <a:pPr>
              <a:spcBef>
                <a:spcPts val="1200"/>
              </a:spcBef>
              <a:defRPr sz="1300">
                <a:solidFill>
                  <a:srgbClr val="123726"/>
                </a:solidFill>
              </a:defRPr>
            </a:pPr>
            <a:r>
              <a:t>✓ Transparent Agronomy: Moves AI from an opaque black box to verifiable spatial visual evidence, building genuine grower confidence.</a:t>
            </a:r>
          </a:p>
          <a:p>
            <a:pPr>
              <a:spcBef>
                <a:spcPts val="1200"/>
              </a:spcBef>
              <a:defRPr sz="1300">
                <a:solidFill>
                  <a:srgbClr val="123726"/>
                </a:solidFill>
              </a:defRPr>
            </a:pPr>
            <a:r>
              <a:t>✓ Edge &amp; Cloud Ready: Benchmarked backbones allow deployment on cloud servers or mobile edge devices for in-field tractor cameras.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3324"/>
                </a:solidFill>
              </a:defRPr>
            </a:pPr>
            <a:r>
              <a:t>Future Extensions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B5E3C"/>
                </a:solidFill>
              </a:defRPr>
            </a:pPr>
            <a:r>
              <a:t>TEAM GREEN TECH · PROJECT EXECUTION</a:t>
            </a:r>
          </a:p>
          <a:p>
            <a:pPr>
              <a:spcBef>
                <a:spcPts val="300"/>
              </a:spcBef>
              <a:defRPr sz="2400" b="1">
                <a:solidFill>
                  <a:srgbClr val="103324"/>
                </a:solidFill>
              </a:defRPr>
            </a:pPr>
            <a:r>
              <a:t>Work Distribution &amp; Member Role Allocation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7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822960"/>
          </a:xfrm>
          <a:prstGeom prst="roundRect">
            <a:avLst/>
          </a:prstGeom>
          <a:solidFill>
            <a:srgbClr val="1B5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19072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Member 1 · AI/ML &amp; Data Lead</a:t>
            </a:r>
          </a:p>
          <a:p>
            <a:pPr algn="ctr">
              <a:defRPr sz="1000">
                <a:solidFill>
                  <a:srgbClr val="E6F5EB"/>
                </a:solidFill>
              </a:defRPr>
            </a:pPr>
            <a:r>
              <a:t>Data &amp; Model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Modules: data.py, model.py, train.py, config.py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Dataset ingestion &amp; stratified 80/20 train/validation splitting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Data augmentations: flips, rotations, ImageNet normalization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Multi-architecture CNN backbones (EfficientNet, ResNet, MobileNet)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Model training engine with AdamW, lr scheduling, and checkpointing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Presentation Delivery: Slides 2, 4, 5 (Problem, Taxonomy, Model)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98264" y="1645920"/>
            <a:ext cx="3383280" cy="8229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704" y="1719072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Member 2 · XAI &amp; Agronomy Lead</a:t>
            </a:r>
          </a:p>
          <a:p>
            <a:pPr algn="ctr">
              <a:defRPr sz="1000">
                <a:solidFill>
                  <a:srgbClr val="E6F5EB"/>
                </a:solidFill>
              </a:defRPr>
            </a:pPr>
            <a:r>
              <a:t>Explainability &amp; Pathology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5424" y="26060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Modules: explainability.py, disease_info.py, evaluate.py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Grad-CAM mathematical hooks &amp; gradient backprop implementation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Colorized heatmaps (Jet/Turbo), alpha blends, &amp; focus masks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Agronomic knowledge base &amp; IPM prescriptions for 10 classes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10×10 Confusion matrix generator &amp; pathology error dynamics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Presentation Delivery: Slides 6, 7, 8, 10 (Grad-CAM, Error Analysis, IPM)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65008" y="1645920"/>
            <a:ext cx="3383280" cy="822960"/>
          </a:xfrm>
          <a:prstGeom prst="roundRect">
            <a:avLst/>
          </a:prstGeom>
          <a:solidFill>
            <a:srgbClr val="10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719072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Member 3 · Full-Stack &amp; MLOps Lead</a:t>
            </a:r>
          </a:p>
          <a:p>
            <a:pPr algn="ctr">
              <a:defRPr sz="1000">
                <a:solidFill>
                  <a:srgbClr val="E6F5EB"/>
                </a:solidFill>
              </a:defRPr>
            </a:pPr>
            <a:r>
              <a:t>UI, Deployment &amp;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26060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Modules: app.py, predict.py, Dockerfile, tests/test_project.py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Interactive Streamlit web app across 4 tabs with smooth CSS animations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Standalone CLI inference tool with batch processing &amp; JSON output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Comprehensive automated test suite (22 pytest unit &amp; integration tests)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Multi-stage Dockerfile, docker-compose, and presentation generation</a:t>
            </a:r>
          </a:p>
          <a:p>
            <a:pPr>
              <a:spcBef>
                <a:spcPts val="600"/>
              </a:spcBef>
              <a:defRPr sz="1100">
                <a:solidFill>
                  <a:srgbClr val="123726"/>
                </a:solidFill>
              </a:defRPr>
            </a:pPr>
            <a:r>
              <a:t>✓ Presentation Delivery: Slides 1, 3, 9, 11, 12, 13 (Intro, Benchmarks, Ops)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